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5418d99f7f43c0" /><Relationship Type="http://schemas.openxmlformats.org/officeDocument/2006/relationships/extended-properties" Target="/docProps/app.xml" Id="Rab3a6cf3a65044ca" /><Relationship Type="http://schemas.openxmlformats.org/officeDocument/2006/relationships/officeDocument" Target="/ppt/presentation.xml" Id="R211316028f4d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8c87f414244e48"/>
  </p:sldMasterIdLst>
  <p:notesMasterIdLst>
    <p:notesMasterId xmlns:r="http://schemas.openxmlformats.org/officeDocument/2006/relationships" r:id="R7948827e87d34cd7"/>
  </p:notesMasterIdLst>
  <p:sldIdLst>
    <p:sldId xmlns:r="http://schemas.openxmlformats.org/officeDocument/2006/relationships" id="256" r:id="R7202615062eb4556"/>
    <p:sldId xmlns:r="http://schemas.openxmlformats.org/officeDocument/2006/relationships" id="257" r:id="R4bfb80bedbe54f18"/>
    <p:sldId xmlns:r="http://schemas.openxmlformats.org/officeDocument/2006/relationships" id="258" r:id="Rd3dd0312fb0843d5"/>
    <p:sldId xmlns:r="http://schemas.openxmlformats.org/officeDocument/2006/relationships" id="259" r:id="R10dd1aef99ea4f1e"/>
    <p:sldId xmlns:r="http://schemas.openxmlformats.org/officeDocument/2006/relationships" id="260" r:id="R6ab852b3b748493e"/>
    <p:sldId xmlns:r="http://schemas.openxmlformats.org/officeDocument/2006/relationships" id="261" r:id="R5c19a675e42c4aae"/>
    <p:sldId xmlns:r="http://schemas.openxmlformats.org/officeDocument/2006/relationships" id="262" r:id="Rac03f7c9a3c1418a"/>
    <p:sldId xmlns:r="http://schemas.openxmlformats.org/officeDocument/2006/relationships" id="263" r:id="R14084e54a73d4ca5"/>
    <p:sldId xmlns:r="http://schemas.openxmlformats.org/officeDocument/2006/relationships" id="264" r:id="R600e15aab34140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18dff47084eb2" /><Relationship Type="http://schemas.openxmlformats.org/officeDocument/2006/relationships/slideMaster" Target="/ppt/slideMasters/slideMaster1.xml" Id="R108c87f414244e48" /><Relationship Type="http://schemas.openxmlformats.org/officeDocument/2006/relationships/notesMaster" Target="/ppt/notesMasters/notesMaster1.xml" Id="R7948827e87d34cd7" /><Relationship Type="http://schemas.openxmlformats.org/officeDocument/2006/relationships/presProps" Target="/ppt/presProps.xml" Id="R858e26d7038d490a" /><Relationship Type="http://schemas.openxmlformats.org/officeDocument/2006/relationships/tableStyles" Target="/ppt/tableStyles.xml" Id="Ra494545355ef4485" /><Relationship Type="http://schemas.openxmlformats.org/officeDocument/2006/relationships/slide" Target="/ppt/slides/slide1.xml" Id="R7202615062eb4556" /><Relationship Type="http://schemas.openxmlformats.org/officeDocument/2006/relationships/slide" Target="/ppt/slides/slide2.xml" Id="R4bfb80bedbe54f18" /><Relationship Type="http://schemas.openxmlformats.org/officeDocument/2006/relationships/slide" Target="/ppt/slides/slide3.xml" Id="Rd3dd0312fb0843d5" /><Relationship Type="http://schemas.openxmlformats.org/officeDocument/2006/relationships/slide" Target="/ppt/slides/slide4.xml" Id="R10dd1aef99ea4f1e" /><Relationship Type="http://schemas.openxmlformats.org/officeDocument/2006/relationships/slide" Target="/ppt/slides/slide5.xml" Id="R6ab852b3b748493e" /><Relationship Type="http://schemas.openxmlformats.org/officeDocument/2006/relationships/slide" Target="/ppt/slides/slide6.xml" Id="R5c19a675e42c4aae" /><Relationship Type="http://schemas.openxmlformats.org/officeDocument/2006/relationships/slide" Target="/ppt/slides/slide7.xml" Id="Rac03f7c9a3c1418a" /><Relationship Type="http://schemas.openxmlformats.org/officeDocument/2006/relationships/slide" Target="/ppt/slides/slide8.xml" Id="R14084e54a73d4ca5" /><Relationship Type="http://schemas.openxmlformats.org/officeDocument/2006/relationships/slide" Target="/ppt/slides/slide9.xml" Id="R600e15aab34140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cc176c5249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7e97a3f9d4a26" /><Relationship Type="http://schemas.openxmlformats.org/officeDocument/2006/relationships/notesMaster" Target="/ppt/notesMasters/notesMaster1.xml" Id="R54e821bdafcb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886b214f4428b" /><Relationship Type="http://schemas.openxmlformats.org/officeDocument/2006/relationships/notesMaster" Target="/ppt/notesMasters/notesMaster1.xml" Id="R94e0c9de9a4842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e90140c12f4f4e" /><Relationship Type="http://schemas.openxmlformats.org/officeDocument/2006/relationships/notesMaster" Target="/ppt/notesMasters/notesMaster1.xml" Id="R708b69f4d1a2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2e6ec662654da3" /><Relationship Type="http://schemas.openxmlformats.org/officeDocument/2006/relationships/notesMaster" Target="/ppt/notesMasters/notesMaster1.xml" Id="R7dfdad9bc89d41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e061776c414dac" /><Relationship Type="http://schemas.openxmlformats.org/officeDocument/2006/relationships/notesMaster" Target="/ppt/notesMasters/notesMaster1.xml" Id="R8b75f8798a95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6bf73284f84634" /><Relationship Type="http://schemas.openxmlformats.org/officeDocument/2006/relationships/notesMaster" Target="/ppt/notesMasters/notesMaster1.xml" Id="R955c5951f5ea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b2b12385a4159" /><Relationship Type="http://schemas.openxmlformats.org/officeDocument/2006/relationships/notesMaster" Target="/ppt/notesMasters/notesMaster1.xml" Id="R88437531a7774d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3e4021ad646f1" /><Relationship Type="http://schemas.openxmlformats.org/officeDocument/2006/relationships/notesMaster" Target="/ppt/notesMasters/notesMaster1.xml" Id="R2d3057b23d724c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681a24383d47ef" /><Relationship Type="http://schemas.openxmlformats.org/officeDocument/2006/relationships/notesMaster" Target="/ppt/notesMasters/notesMaster1.xml" Id="R62af2aabf02a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presentation/COSC7502_Milestone1_Draft_Presentation.pptx</a:t>
            </a:r>
          </a:p>
          <a:p xmlns:a="http://schemas.openxmlformats.org/drawingml/2006/main">
            <a:r>
              <a:t>- OPTIMISATION_LOG.md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presentation specification (reference model and 101 x 101 NetLogo world)</a:t>
            </a:r>
          </a:p>
          <a:p xmlns:a="http://schemas.openxmlformats.org/drawingml/2006/main">
            <a:r>
              <a:t>- src/life.cpp (rule, synchronous update, toroidal lookup implementation)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tag v0_baseline: src/life.h and src/life.cpp</a:t>
            </a:r>
          </a:p>
          <a:p xmlns:a="http://schemas.openxmlformats.org/drawingml/2006/main">
            <a:r>
              <a:t>- tests/test_life.cpp</a:t>
            </a:r>
          </a:p>
          <a:p xmlns:a="http://schemas.openxmlformats.org/drawingml/2006/main">
            <a:r>
              <a:t>- OPTIMISATION_LOG.md — V0 correctness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results/v0_baseline/profile.txt (96.61% and 180.51 sampled self seconds)</a:t>
            </a:r>
          </a:p>
          <a:p xmlns:a="http://schemas.openxmlformats.org/drawingml/2006/main">
            <a:r>
              <a:t>- analysis/plots/live_neighbours_profile.png</a:t>
            </a:r>
          </a:p>
          <a:p xmlns:a="http://schemas.openxmlformats.org/drawingml/2006/main">
            <a:r>
              <a:t>- OPTIMISATION_LOG.md — V0 to V3 optimisation sequence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tags v0_baseline and v1_precomputed_wrap: src/life.cpp</a:t>
            </a:r>
          </a:p>
          <a:p xmlns:a="http://schemas.openxmlformats.org/drawingml/2006/main">
            <a:r>
              <a:t>- results/v0_baseline/summary.csv</a:t>
            </a:r>
          </a:p>
          <a:p xmlns:a="http://schemas.openxmlformats.org/drawingml/2006/main">
            <a:r>
              <a:t>- results/v1_precomputed_wrap/summary.csv</a:t>
            </a:r>
          </a:p>
          <a:p xmlns:a="http://schemas.openxmlformats.org/drawingml/2006/main">
            <a:r>
              <a:t>- OPTIMISATION_LOG.md — V1 controlled change and interpretation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tags v1_precomputed_wrap, v2_contiguous_grid, and v3_explicit_neighbours</a:t>
            </a:r>
          </a:p>
          <a:p xmlns:a="http://schemas.openxmlformats.org/drawingml/2006/main">
            <a:r>
              <a:t>- results/v1_precomputed_wrap/summary.csv</a:t>
            </a:r>
          </a:p>
          <a:p xmlns:a="http://schemas.openxmlformats.org/drawingml/2006/main">
            <a:r>
              <a:t>- results/v2_contiguous_grid/summary.csv</a:t>
            </a:r>
          </a:p>
          <a:p xmlns:a="http://schemas.openxmlformats.org/drawingml/2006/main">
            <a:r>
              <a:t>- results/v3_explicit_neighbours/summary.csv</a:t>
            </a:r>
          </a:p>
          <a:p xmlns:a="http://schemas.openxmlformats.org/drawingml/2006/main">
            <a:r>
              <a:t>- OPTIMISATION_LOG.md — V2 and V3 controlled 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Makefile (benchmark flags and timed executable)</a:t>
            </a:r>
          </a:p>
          <a:p xmlns:a="http://schemas.openxmlformats.org/drawingml/2006/main">
            <a:r>
              <a:t>- results/v0_baseline/environment.txt</a:t>
            </a:r>
          </a:p>
          <a:p xmlns:a="http://schemas.openxmlformats.org/drawingml/2006/main">
            <a:r>
              <a:t>- results/v0_baseline/summary.csv</a:t>
            </a:r>
          </a:p>
          <a:p xmlns:a="http://schemas.openxmlformats.org/drawingml/2006/main">
            <a:r>
              <a:t>- results/v1_precomputed_wrap/summary.csv</a:t>
            </a:r>
          </a:p>
          <a:p xmlns:a="http://schemas.openxmlformats.org/drawingml/2006/main">
            <a:r>
              <a:t>- results/v2_contiguous_grid/summary.csv</a:t>
            </a:r>
          </a:p>
          <a:p xmlns:a="http://schemas.openxmlformats.org/drawingml/2006/main">
            <a:r>
              <a:t>- results/v3_explicit_neighbours/summary.csv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analysis/plots/runtime_vs_grid_size.png</a:t>
            </a:r>
          </a:p>
          <a:p xmlns:a="http://schemas.openxmlformats.org/drawingml/2006/main">
            <a:r>
              <a:t>- results/v0_baseline/summary.csv</a:t>
            </a:r>
          </a:p>
          <a:p xmlns:a="http://schemas.openxmlformats.org/drawingml/2006/main">
            <a:r>
              <a:t>- results/v1_precomputed_wrap/summary.csv</a:t>
            </a:r>
          </a:p>
          <a:p xmlns:a="http://schemas.openxmlformats.org/drawingml/2006/main">
            <a:r>
              <a:t>- results/v2_contiguous_grid/summary.csv</a:t>
            </a:r>
          </a:p>
          <a:p xmlns:a="http://schemas.openxmlformats.org/drawingml/2006/main">
            <a:r>
              <a:t>- results/v3_explicit_neighbours/summary.csv</a:t>
            </a:r>
          </a:p>
          <a:p xmlns:a="http://schemas.openxmlformats.org/drawingml/2006/main">
            <a:r>
              <a:t>- analysis/plot_results.py (validation and speedup calculation)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OPTIMISATION_LOG.md — V0 to V3 interpretation and decisions</a:t>
            </a:r>
          </a:p>
          <a:p xmlns:a="http://schemas.openxmlformats.org/drawingml/2006/main">
            <a:r>
              <a:t>- results/v3_explicit_neighbours/summary.csv</a:t>
            </a:r>
          </a:p>
          <a:p xmlns:a="http://schemas.openxmlformats.org/drawingml/2006/main">
            <a:r>
              <a:t>- results/v3_explicit_neighbours/validation.txt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a550372eb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b37d2393c453d" /><Relationship Type="http://schemas.openxmlformats.org/officeDocument/2006/relationships/slideLayout" Target="/ppt/slideLayouts/slideLayout1.xml" Id="R91e454552ddf4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454552ddf4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4b63017e04509" /><Relationship Type="http://schemas.openxmlformats.org/officeDocument/2006/relationships/notesSlide" Target="/ppt/notesSlides/notesSlide1.xml" Id="R2deecb0c68e6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650c91dc45c7" /><Relationship Type="http://schemas.openxmlformats.org/officeDocument/2006/relationships/notesSlide" Target="/ppt/notesSlides/notesSlide2.xml" Id="R84810a52f049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258cafec84e07" /><Relationship Type="http://schemas.openxmlformats.org/officeDocument/2006/relationships/notesSlide" Target="/ppt/notesSlides/notesSlide3.xml" Id="R44edae2d03e4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fdfdf1e7543b5" /><Relationship Type="http://schemas.openxmlformats.org/officeDocument/2006/relationships/image" Target="/ppt/media/image.png" Id="Ra5147f7aa0a04142" /><Relationship Type="http://schemas.openxmlformats.org/officeDocument/2006/relationships/notesSlide" Target="/ppt/notesSlides/notesSlide4.xml" Id="R63624303cd014d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430eb34704f2b" /><Relationship Type="http://schemas.openxmlformats.org/officeDocument/2006/relationships/notesSlide" Target="/ppt/notesSlides/notesSlide5.xml" Id="Rfd27f8c56c384e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4fa9a74134252" /><Relationship Type="http://schemas.openxmlformats.org/officeDocument/2006/relationships/notesSlide" Target="/ppt/notesSlides/notesSlide6.xml" Id="R8fa9af87c14b4c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789de33ff49a1" /><Relationship Type="http://schemas.openxmlformats.org/officeDocument/2006/relationships/notesSlide" Target="/ppt/notesSlides/notesSlide7.xml" Id="Rb70509d3e5434c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b7e9f14d74fd5" /><Relationship Type="http://schemas.openxmlformats.org/officeDocument/2006/relationships/image" Target="/ppt/media/image2.png" Id="Ra2d03a78c1fa47fa" /><Relationship Type="http://schemas.openxmlformats.org/officeDocument/2006/relationships/notesSlide" Target="/ppt/notesSlides/notesSlide8.xml" Id="R51bf416dc51042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bf213358b45be" /><Relationship Type="http://schemas.openxmlformats.org/officeDocument/2006/relationships/notesSlide" Target="/ppt/notesSlides/notesSlide9.xml" Id="Rdbec15e8bb3742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347AA-11B0-4AA3-9D26-293AECA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1D2249BD-78E8-46EF-8180-8533CD4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Serial Optimisation of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Conway's Game of Life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FBC6046-FC7E-4569-AEC4-BB0CB3FE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COSC7502 Milestone 1</a:t>
            </a:r>
          </a:p>
        </p:txBody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44735C2E-AFF5-4B6A-99D8-5B99320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A controlled, evidence-based optimisation of a serial C++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AAFE2-F429-4127-8248-4C6AD49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45EE-E75B-4914-85C9-B9B8B1E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43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B4028-830A-432A-A172-E68A412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43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D3C5A-AFF2-45B6-9775-982000F4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117A-9051-4FC4-845F-E7D8F93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67995-C9C6-4030-BB8B-E3157E1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2CD81-0391-4675-9D0E-A49D1E2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</p:sp>
      <p:sp>
        <p:nvSpPr>
          <p:cNvPr id="12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04A0870E-27CA-4019-8A2B-0952DE0C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UQ-inspired academic styling · no official logo or template used</a:t>
            </a:r>
          </a:p>
        </p:txBody>
      </p:sp>
    </p:spTree>
    <p:extLst>
      <p:ext uri="{BB962C8B-B14F-4D97-AF65-F5344CB8AC3E}">
        <p14:creationId xmlns:p14="http://schemas.microsoft.com/office/powerpoint/2010/main" val="1364680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2">
            <a:extLst xmlns:a="http://schemas.openxmlformats.org/drawingml/2006/main">
              <a:ext uri="{FF2B5EF4-FFF2-40B4-BE49-F238E27FC236}">
                <a16:creationId xmlns:a16="http://schemas.microsoft.com/office/drawing/2014/main" id="{018478E2-3F48-4437-9BBE-6BD955BB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Eight neighbours determine every cell's next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862A-578C-452B-947F-89DD08C2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A2FC4-EE49-4FFE-B693-BDCCAA5F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2">
            <a:extLst xmlns:a="http://schemas.openxmlformats.org/drawingml/2006/main">
              <a:ext uri="{FF2B5EF4-FFF2-40B4-BE49-F238E27FC236}">
                <a16:creationId xmlns:a16="http://schemas.microsoft.com/office/drawing/2014/main" id="{4027F172-3D94-474B-B49B-E5CFC5D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27144EA7-CF18-4608-B34D-D152AC7F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5714F-7555-4D1B-A83A-DF250735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2097-245D-42CA-98E7-171D5A90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09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2AE4D-0071-4965-B094-3A27002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E05EF-C9E9-495D-9FC7-99FDD05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BDA24-E415-4650-8F01-C442934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14288">
            <a:solidFill>
              <a:srgbClr val="3B17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41A26-E187-4085-8CF7-98AC1DA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670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ED7CB-BEA5-4A05-AE32-C5C8FDBF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A6703-8704-43AC-A8CF-F31111C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997FC-BB38-443C-955B-F713017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242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14288">
            <a:solidFill>
              <a:srgbClr val="A98ABD"/>
            </a:solidFill>
            <a:prstDash val="solid"/>
          </a:ln>
        </p:spPr>
      </p:sp>
      <p:sp>
        <p:nvSpPr>
          <p:cNvPr id="15" name="moore-label">
            <a:extLst xmlns:a="http://schemas.openxmlformats.org/drawingml/2006/main">
              <a:ext uri="{FF2B5EF4-FFF2-40B4-BE49-F238E27FC236}">
                <a16:creationId xmlns:a16="http://schemas.microsoft.com/office/drawing/2014/main" id="{46544AEE-A49B-47EA-8679-F49212D4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Moore neighbourhood</a:t>
            </a:r>
          </a:p>
        </p:txBody>
      </p:sp>
      <p:sp>
        <p:nvSpPr>
          <p:cNvPr id="16" name="moore-caption">
            <a:extLst xmlns:a="http://schemas.openxmlformats.org/drawingml/2006/main">
              <a:ext uri="{FF2B5EF4-FFF2-40B4-BE49-F238E27FC236}">
                <a16:creationId xmlns:a16="http://schemas.microsoft.com/office/drawing/2014/main" id="{51F9024A-CF42-4105-A69D-6750341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The eight surrounding cells are counted.</a:t>
            </a:r>
          </a:p>
        </p:txBody>
      </p:sp>
      <p:sp>
        <p:nvSpPr>
          <p:cNvPr id="17" name="rule-heading">
            <a:extLst xmlns:a="http://schemas.openxmlformats.org/drawingml/2006/main">
              <a:ext uri="{FF2B5EF4-FFF2-40B4-BE49-F238E27FC236}">
                <a16:creationId xmlns:a16="http://schemas.microsoft.com/office/drawing/2014/main" id="{F8A1A190-8EEF-47DC-A34D-50647533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525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B3 / S23 rule</a:t>
            </a:r>
          </a:p>
        </p:txBody>
      </p:sp>
      <p:sp>
        <p:nvSpPr>
          <p:cNvPr id="18" name="rule-list">
            <a:extLst xmlns:a="http://schemas.openxmlformats.org/drawingml/2006/main">
              <a:ext uri="{FF2B5EF4-FFF2-40B4-BE49-F238E27FC236}">
                <a16:creationId xmlns:a16="http://schemas.microsoft.com/office/drawing/2014/main" id="{2D10DBA4-1328-44C1-9756-C4AD07F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4095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Birth:</a:t>
            </a: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 exactly 3 neighbours → alive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Survival:</a:t>
            </a: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 exactly 2 neighbours → keep the current state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</a:t>
            </a:r>
            <a:r>
              <a:rPr sz="16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Otherwise:</a:t>
            </a: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 any other count → dead</a:t>
            </a:r>
          </a:p>
        </p:txBody>
      </p:sp>
      <p:sp>
        <p:nvSpPr>
          <p:cNvPr id="19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038E226A-29F2-4B5D-80F1-045EE2AC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52575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7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Reference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17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20" name="model-list">
            <a:extLst xmlns:a="http://schemas.openxmlformats.org/drawingml/2006/main">
              <a:ext uri="{FF2B5EF4-FFF2-40B4-BE49-F238E27FC236}">
                <a16:creationId xmlns:a16="http://schemas.microsoft.com/office/drawing/2014/main" id="{C09AB834-8801-4731-BC64-29EA15DB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4125"/>
            <a:ext cx="2714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All cells update synchronously.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Edges wrap to form a toroidal world.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The NetLogo reference world is 101 × 101.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The optimised program remains serial.</a:t>
            </a:r>
          </a:p>
        </p:txBody>
      </p:sp>
      <p:sp>
        <p:nvSpPr>
          <p:cNvPr id="21" name="problem-message">
            <a:extLst xmlns:a="http://schemas.openxmlformats.org/drawingml/2006/main">
              <a:ext uri="{FF2B5EF4-FFF2-40B4-BE49-F238E27FC236}">
                <a16:creationId xmlns:a16="http://schemas.microsoft.com/office/drawing/2014/main" id="{0303DA21-D135-40D8-9DFB-B24A20A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  <p:txBody>
          <a:bodyPr xmlns:a="http://schemas.openxmlformats.org/drawingml/2006/main" lIns="171450" tIns="114300" rIns="171450" bIns="7620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Performance changes must preserve this exact model.</a:t>
            </a:r>
          </a:p>
        </p:txBody>
      </p:sp>
    </p:spTree>
    <p:extLst>
      <p:ext uri="{BB962C8B-B14F-4D97-AF65-F5344CB8AC3E}">
        <p14:creationId xmlns:p14="http://schemas.microsoft.com/office/powerpoint/2010/main" val="1048534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2BD480A7-6E97-4CE4-8963-3D9CF46E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V0 prioritised traceability and correctness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0867A-7712-4E2A-9BF7-26D3C5E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04FFE-7C8B-46E7-BCDD-38B9BDF4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3">
            <a:extLst xmlns:a="http://schemas.openxmlformats.org/drawingml/2006/main">
              <a:ext uri="{FF2B5EF4-FFF2-40B4-BE49-F238E27FC236}">
                <a16:creationId xmlns:a16="http://schemas.microsoft.com/office/drawing/2014/main" id="{06BB1AE8-E84A-4BAF-9B23-715FA098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CA7D974C-DFE6-43DA-A44A-EBB4C608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baseline-heading">
            <a:extLst xmlns:a="http://schemas.openxmlformats.org/drawingml/2006/main">
              <a:ext uri="{FF2B5EF4-FFF2-40B4-BE49-F238E27FC236}">
                <a16:creationId xmlns:a16="http://schemas.microsoft.com/office/drawing/2014/main" id="{CEB85B14-4CF6-4880-8CB4-23E9FC9D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Readable serial baseline</a:t>
            </a:r>
          </a:p>
        </p:txBody>
      </p:sp>
      <p:sp>
        <p:nvSpPr>
          <p:cNvPr id="7" name="baseline-list">
            <a:extLst xmlns:a="http://schemas.openxmlformats.org/drawingml/2006/main">
              <a:ext uri="{FF2B5EF4-FFF2-40B4-BE49-F238E27FC236}">
                <a16:creationId xmlns:a16="http://schemas.microsoft.com/office/drawing/2014/main" id="{58FEB5B1-58CA-4CF9-8210-96D5F87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C++17 with vector&lt;vector&lt;uint8_t&gt;&gt; storage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current_ is read; next_ is written, then swapped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generic 3 × 3 neighbour loops skip the centre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wrapped coordinates are calculated in the hot path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57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mt19937 seed reproduces the initial state</a:t>
            </a:r>
          </a:p>
        </p:txBody>
      </p:sp>
      <p:sp>
        <p:nvSpPr>
          <p:cNvPr id="8" name="code-label">
            <a:extLst xmlns:a="http://schemas.openxmlformats.org/drawingml/2006/main">
              <a:ext uri="{FF2B5EF4-FFF2-40B4-BE49-F238E27FC236}">
                <a16:creationId xmlns:a16="http://schemas.microsoft.com/office/drawing/2014/main" id="{1957B708-EAB1-4B95-8F46-5949D493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6B"/>
                </a:solidFill>
                <a:latin typeface="Arial"/>
                <a:ea typeface="Arial"/>
                <a:cs typeface="Arial"/>
              </a:rPr>
              <a:t>V0 neighbour loop (simplified)</a:t>
            </a:r>
          </a:p>
        </p:txBody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1E6D33E2-A18E-44EC-BD1D-75295728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5286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8"/>
          </a:solidFill>
          <a:ln xmlns:a="http://schemas.openxmlformats.org/drawingml/2006/main" w="9525">
            <a:solidFill>
              <a:srgbClr val="E3E0E5"/>
            </a:solidFill>
            <a:prstDash val="solid"/>
          </a:ln>
        </p:spPr>
        <p:txBody>
          <a:bodyPr xmlns:a="http://schemas.openxmlformats.org/drawingml/2006/main" lIns="133350" tIns="76200" rIns="1143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for (dy = -1; dy &lt;= 1; ++dy) {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for (dx = -1; dx &lt;= 1; ++dx) {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if (dx == 0 &amp;&amp; dy == 0) continue;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nx = wrap(x + dx);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ny = wrap(y + dy);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count += current_[ny][nx];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15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orrectness-heading">
            <a:extLst xmlns:a="http://schemas.openxmlformats.org/drawingml/2006/main">
              <a:ext uri="{FF2B5EF4-FFF2-40B4-BE49-F238E27FC236}">
                <a16:creationId xmlns:a16="http://schemas.microsoft.com/office/drawing/2014/main" id="{AE1DC56E-04B0-4E99-A1A5-41AFAE0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Correctness oracle</a:t>
            </a:r>
          </a:p>
        </p:txBody>
      </p:sp>
      <p:sp>
        <p:nvSpPr>
          <p:cNvPr id="11" name="correctness-list">
            <a:extLst xmlns:a="http://schemas.openxmlformats.org/drawingml/2006/main">
              <a:ext uri="{FF2B5EF4-FFF2-40B4-BE49-F238E27FC236}">
                <a16:creationId xmlns:a16="http://schemas.microsoft.com/office/drawing/2014/main" id="{71EA8780-AB3F-4417-BDEE-D13E399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191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block still life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blinker oscillator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glider movement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horizontal and vertical wrapping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deterministic seeded setup</a:t>
            </a:r>
          </a:p>
        </p:txBody>
      </p:sp>
      <p:sp>
        <p:nvSpPr>
          <p:cNvPr id="12" name="tests-value">
            <a:extLst xmlns:a="http://schemas.openxmlformats.org/drawingml/2006/main">
              <a:ext uri="{FF2B5EF4-FFF2-40B4-BE49-F238E27FC236}">
                <a16:creationId xmlns:a16="http://schemas.microsoft.com/office/drawing/2014/main" id="{49045F65-784C-47E8-A9DB-DE0AE88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13" name="tests-label">
            <a:extLst xmlns:a="http://schemas.openxmlformats.org/drawingml/2006/main">
              <a:ext uri="{FF2B5EF4-FFF2-40B4-BE49-F238E27FC236}">
                <a16:creationId xmlns:a16="http://schemas.microsoft.com/office/drawing/2014/main" id="{05354087-3CEF-4061-916E-E1C2B45F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deterministic tests passed locally and on Rangpur</a:t>
            </a:r>
          </a:p>
        </p:txBody>
      </p:sp>
      <p:sp>
        <p:nvSpPr>
          <p:cNvPr id="14" name="correctness-message">
            <a:extLst xmlns:a="http://schemas.openxmlformats.org/drawingml/2006/main">
              <a:ext uri="{FF2B5EF4-FFF2-40B4-BE49-F238E27FC236}">
                <a16:creationId xmlns:a16="http://schemas.microsoft.com/office/drawing/2014/main" id="{4598BDE7-D9DF-4805-9758-8D8E2F38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Every version must match both live-cell count and checksum.</a:t>
            </a:r>
          </a:p>
        </p:txBody>
      </p:sp>
    </p:spTree>
    <p:extLst>
      <p:ext uri="{BB962C8B-B14F-4D97-AF65-F5344CB8AC3E}">
        <p14:creationId xmlns:p14="http://schemas.microsoft.com/office/powerpoint/2010/main" val="720947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4">
            <a:extLst xmlns:a="http://schemas.openxmlformats.org/drawingml/2006/main">
              <a:ext uri="{FF2B5EF4-FFF2-40B4-BE49-F238E27FC236}">
                <a16:creationId xmlns:a16="http://schemas.microsoft.com/office/drawing/2014/main" id="{27AB34A6-8121-4663-90C1-611187EA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Profiling made neighbour calculation the first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3E8B6-FFDE-4E0C-9AF6-F8C89E2D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58B0A-5EAB-45F9-9DDA-795A566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4">
            <a:extLst xmlns:a="http://schemas.openxmlformats.org/drawingml/2006/main">
              <a:ext uri="{FF2B5EF4-FFF2-40B4-BE49-F238E27FC236}">
                <a16:creationId xmlns:a16="http://schemas.microsoft.com/office/drawing/2014/main" id="{F0055B30-D947-4702-8245-5FC67CF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918CD01C-9F32-491B-94FF-B24E9ABF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47f7aa0a04142"/>
          <a:stretch xmlns:a="http://schemas.openxmlformats.org/drawingml/2006/main"/>
        </p:blipFill>
        <p:spPr>
          <a:xfrm xmlns:a="http://schemas.openxmlformats.org/drawingml/2006/main">
            <a:off x="438150" y="1535407"/>
            <a:ext cx="6667500" cy="3968162"/>
          </a:xfrm>
          <a:prstGeom xmlns:a="http://schemas.openxmlformats.org/drawingml/2006/main" prst="rect">
            <a:avLst/>
          </a:prstGeom>
        </p:spPr>
      </p:pic>
      <p:sp>
        <p:nvSpPr>
          <p:cNvPr id="7" name="profile-context">
            <a:extLst xmlns:a="http://schemas.openxmlformats.org/drawingml/2006/main">
              <a:ext uri="{FF2B5EF4-FFF2-40B4-BE49-F238E27FC236}">
                <a16:creationId xmlns:a16="http://schemas.microsoft.com/office/drawing/2014/main" id="{31AB4B58-3DA1-485D-A7F2-5B0DBDCA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Diagnostic profile: 2048 × 2048, 1000 generations, -O2 -g -pg</a:t>
            </a:r>
          </a:p>
        </p:txBody>
      </p:sp>
      <p:sp>
        <p:nvSpPr>
          <p:cNvPr id="8" name="hotspot-value">
            <a:extLst xmlns:a="http://schemas.openxmlformats.org/drawingml/2006/main">
              <a:ext uri="{FF2B5EF4-FFF2-40B4-BE49-F238E27FC236}">
                <a16:creationId xmlns:a16="http://schemas.microsoft.com/office/drawing/2014/main" id="{11ECA2F9-65F5-4D32-881C-214F2172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763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≈ 96.61%</a:t>
            </a:r>
          </a:p>
        </p:txBody>
      </p:sp>
      <p:sp>
        <p:nvSpPr>
          <p:cNvPr id="9" name="hotspot-label">
            <a:extLst xmlns:a="http://schemas.openxmlformats.org/drawingml/2006/main">
              <a:ext uri="{FF2B5EF4-FFF2-40B4-BE49-F238E27FC236}">
                <a16:creationId xmlns:a16="http://schemas.microsoft.com/office/drawing/2014/main" id="{296EF0E5-C158-494D-B7D3-7A4A602A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85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of V0 sampled self time was inside Life::live_neighbours</a:t>
            </a:r>
          </a:p>
        </p:txBody>
      </p:sp>
      <p:sp>
        <p:nvSpPr>
          <p:cNvPr id="10" name="sequence-heading">
            <a:extLst xmlns:a="http://schemas.openxmlformats.org/drawingml/2006/main">
              <a:ext uri="{FF2B5EF4-FFF2-40B4-BE49-F238E27FC236}">
                <a16:creationId xmlns:a16="http://schemas.microsoft.com/office/drawing/2014/main" id="{208E4519-2C45-47F5-806A-7117C2B6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03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Controlled sequence</a:t>
            </a:r>
          </a:p>
        </p:txBody>
      </p:sp>
      <p:sp>
        <p:nvSpPr>
          <p:cNvPr id="11" name="sequence">
            <a:extLst xmlns:a="http://schemas.openxmlformats.org/drawingml/2006/main">
              <a:ext uri="{FF2B5EF4-FFF2-40B4-BE49-F238E27FC236}">
                <a16:creationId xmlns:a16="http://schemas.microsoft.com/office/drawing/2014/main" id="{76EB77C3-D4FC-4168-95BD-A24F9EB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V0  →  V1  →  V2  →  V3</a:t>
            </a:r>
          </a:p>
        </p:txBody>
      </p:sp>
      <p:sp>
        <p:nvSpPr>
          <p:cNvPr id="12" name="sequence-notes">
            <a:extLst xmlns:a="http://schemas.openxmlformats.org/drawingml/2006/main">
              <a:ext uri="{FF2B5EF4-FFF2-40B4-BE49-F238E27FC236}">
                <a16:creationId xmlns:a16="http://schemas.microsoft.com/office/drawing/2014/main" id="{C822E09A-658F-4C9D-AB72-1E396D8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862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precompute wrap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65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→ contiguous grid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65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→ explicit neighbours</a:t>
            </a:r>
          </a:p>
        </p:txBody>
      </p:sp>
      <p:sp>
        <p:nvSpPr>
          <p:cNvPr id="13" name="profile-message">
            <a:extLst xmlns:a="http://schemas.openxmlformats.org/drawingml/2006/main">
              <a:ext uri="{FF2B5EF4-FFF2-40B4-BE49-F238E27FC236}">
                <a16:creationId xmlns:a16="http://schemas.microsoft.com/office/drawing/2014/main" id="{DD4EC27A-4AB0-4930-9E31-F1C091F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721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Measure the hotspot, change one thing, then test again.</a:t>
            </a:r>
          </a:p>
        </p:txBody>
      </p:sp>
    </p:spTree>
    <p:extLst>
      <p:ext uri="{BB962C8B-B14F-4D97-AF65-F5344CB8AC3E}">
        <p14:creationId xmlns:p14="http://schemas.microsoft.com/office/powerpoint/2010/main" val="1747984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5">
            <a:extLst xmlns:a="http://schemas.openxmlformats.org/drawingml/2006/main">
              <a:ext uri="{FF2B5EF4-FFF2-40B4-BE49-F238E27FC236}">
                <a16:creationId xmlns:a16="http://schemas.microsoft.com/office/drawing/2014/main" id="{BC02549E-4BA3-4ACE-B2A4-D80250D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V1 removed repeated wrapping from the hot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AE7EB-A421-47E8-AFB8-55D81AC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9153-300E-4BEC-87CE-1E9EF35D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5">
            <a:extLst xmlns:a="http://schemas.openxmlformats.org/drawingml/2006/main">
              <a:ext uri="{FF2B5EF4-FFF2-40B4-BE49-F238E27FC236}">
                <a16:creationId xmlns:a16="http://schemas.microsoft.com/office/drawing/2014/main" id="{0B60238D-E9E5-49C0-B6ED-7030AFEF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939723C-ECA5-45DD-A21A-A16C2918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CA6E760-FA84-45E2-8809-21F985C9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6616B"/>
                </a:solidFill>
                <a:latin typeface="Arial"/>
                <a:ea typeface="Arial"/>
                <a:cs typeface="Arial"/>
              </a:rPr>
              <a:t>V0 — calculate repeatedly</a:t>
            </a:r>
          </a:p>
        </p:txBody>
      </p:sp>
      <p:sp>
        <p:nvSpPr>
          <p:cNvPr id="7" name="before-code">
            <a:extLst xmlns:a="http://schemas.openxmlformats.org/drawingml/2006/main">
              <a:ext uri="{FF2B5EF4-FFF2-40B4-BE49-F238E27FC236}">
                <a16:creationId xmlns:a16="http://schemas.microsoft.com/office/drawing/2014/main" id="{0674F9FF-22A5-46C7-BD7B-58E2296B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8"/>
          </a:solidFill>
          <a:ln xmlns:a="http://schemas.openxmlformats.org/drawingml/2006/main" w="9525">
            <a:solidFill>
              <a:srgbClr val="E3E0E5"/>
            </a:solidFill>
            <a:prstDash val="solid"/>
          </a:ln>
        </p:spPr>
        <p:txBody>
          <a:bodyPr xmlns:a="http://schemas.openxmlformats.org/drawingml/2006/main" lIns="228600" tIns="190500" rIns="171450" bIns="1428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wrap(x - 1)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wrap(x + 1)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wrap(y - 1)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wrap(y + 1)</a:t>
            </a:r>
          </a:p>
        </p:txBody>
      </p:sp>
      <p:sp>
        <p:nvSpPr>
          <p:cNvPr id="8" name="v1-arrow">
            <a:extLst xmlns:a="http://schemas.openxmlformats.org/drawingml/2006/main">
              <a:ext uri="{FF2B5EF4-FFF2-40B4-BE49-F238E27FC236}">
                <a16:creationId xmlns:a16="http://schemas.microsoft.com/office/drawing/2014/main" id="{90962F4E-90EA-4F66-9406-E22D739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3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after-label">
            <a:extLst xmlns:a="http://schemas.openxmlformats.org/drawingml/2006/main">
              <a:ext uri="{FF2B5EF4-FFF2-40B4-BE49-F238E27FC236}">
                <a16:creationId xmlns:a16="http://schemas.microsoft.com/office/drawing/2014/main" id="{FA5E4855-12CE-4492-87E7-17D66D7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V1 — precompute once</a:t>
            </a:r>
          </a:p>
        </p:txBody>
      </p:sp>
      <p:sp>
        <p:nvSpPr>
          <p:cNvPr id="10" name="after-code">
            <a:extLst xmlns:a="http://schemas.openxmlformats.org/drawingml/2006/main">
              <a:ext uri="{FF2B5EF4-FFF2-40B4-BE49-F238E27FC236}">
                <a16:creationId xmlns:a16="http://schemas.microsoft.com/office/drawing/2014/main" id="{996A877B-B874-4353-BD58-A020FAF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  <p:txBody>
          <a:bodyPr xmlns:a="http://schemas.openxmlformats.org/drawingml/2006/main" lIns="228600" tIns="247650" rIns="171450" bIns="142875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3B175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B175B"/>
                </a:solidFill>
                <a:latin typeface="Consolas"/>
                <a:ea typeface="Consolas"/>
                <a:cs typeface="Consolas"/>
              </a:rPr>
              <a:t>x_prev[x]   x_next[x]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3B175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B175B"/>
                </a:solidFill>
                <a:latin typeface="Consolas"/>
                <a:ea typeface="Consolas"/>
                <a:cs typeface="Consolas"/>
              </a:rPr>
              <a:t>y_prev[y]   y_next[y]</a:t>
            </a:r>
          </a:p>
        </p:txBody>
      </p:sp>
      <p:sp>
        <p:nvSpPr>
          <p:cNvPr id="11" name="controlled">
            <a:extLst xmlns:a="http://schemas.openxmlformats.org/drawingml/2006/main">
              <a:ext uri="{FF2B5EF4-FFF2-40B4-BE49-F238E27FC236}">
                <a16:creationId xmlns:a16="http://schemas.microsoft.com/office/drawing/2014/main" id="{8AD9DC19-A8B2-4E58-949E-B651CC8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Same 2D grid · same rule · same double buffering · same benchmark</a:t>
            </a:r>
          </a:p>
        </p:txBody>
      </p:sp>
      <p:sp>
        <p:nvSpPr>
          <p:cNvPr id="12" name="v0-time-value">
            <a:extLst xmlns:a="http://schemas.openxmlformats.org/drawingml/2006/main">
              <a:ext uri="{FF2B5EF4-FFF2-40B4-BE49-F238E27FC236}">
                <a16:creationId xmlns:a16="http://schemas.microsoft.com/office/drawing/2014/main" id="{AB787D3E-805C-478A-9731-565BE14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90.85 s</a:t>
            </a:r>
          </a:p>
        </p:txBody>
      </p:sp>
      <p:sp>
        <p:nvSpPr>
          <p:cNvPr id="13" name="v0-time-label">
            <a:extLst xmlns:a="http://schemas.openxmlformats.org/drawingml/2006/main">
              <a:ext uri="{FF2B5EF4-FFF2-40B4-BE49-F238E27FC236}">
                <a16:creationId xmlns:a16="http://schemas.microsoft.com/office/drawing/2014/main" id="{75DCC7DD-5CDD-4FBA-9435-2F4DC17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V0 median at 2048 × 2048</a:t>
            </a:r>
          </a:p>
        </p:txBody>
      </p:sp>
      <p:sp>
        <p:nvSpPr>
          <p:cNvPr id="14" name="result-arrow">
            <a:extLst xmlns:a="http://schemas.openxmlformats.org/drawingml/2006/main">
              <a:ext uri="{FF2B5EF4-FFF2-40B4-BE49-F238E27FC236}">
                <a16:creationId xmlns:a16="http://schemas.microsoft.com/office/drawing/2014/main" id="{9D46AEFF-34EB-4248-9F52-4CA7C9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v1-time-value">
            <a:extLst xmlns:a="http://schemas.openxmlformats.org/drawingml/2006/main">
              <a:ext uri="{FF2B5EF4-FFF2-40B4-BE49-F238E27FC236}">
                <a16:creationId xmlns:a16="http://schemas.microsoft.com/office/drawing/2014/main" id="{12C708DD-7282-4151-973C-1B33506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20.35 s</a:t>
            </a:r>
          </a:p>
        </p:txBody>
      </p:sp>
      <p:sp>
        <p:nvSpPr>
          <p:cNvPr id="16" name="v1-time-label">
            <a:extLst xmlns:a="http://schemas.openxmlformats.org/drawingml/2006/main">
              <a:ext uri="{FF2B5EF4-FFF2-40B4-BE49-F238E27FC236}">
                <a16:creationId xmlns:a16="http://schemas.microsoft.com/office/drawing/2014/main" id="{979FBF25-736C-49EF-9DD9-11D2B28D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72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V1 median at 2048 × 2048</a:t>
            </a:r>
          </a:p>
        </p:txBody>
      </p:sp>
      <p:sp>
        <p:nvSpPr>
          <p:cNvPr id="17" name="v1-speed-value">
            <a:extLst xmlns:a="http://schemas.openxmlformats.org/drawingml/2006/main">
              <a:ext uri="{FF2B5EF4-FFF2-40B4-BE49-F238E27FC236}">
                <a16:creationId xmlns:a16="http://schemas.microsoft.com/office/drawing/2014/main" id="{23870EC2-FA73-496E-8213-A3019CB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≈ 4.46×</a:t>
            </a:r>
          </a:p>
        </p:txBody>
      </p:sp>
      <p:sp>
        <p:nvSpPr>
          <p:cNvPr id="18" name="v1-speed-label">
            <a:extLst xmlns:a="http://schemas.openxmlformats.org/drawingml/2006/main">
              <a:ext uri="{FF2B5EF4-FFF2-40B4-BE49-F238E27FC236}">
                <a16:creationId xmlns:a16="http://schemas.microsoft.com/office/drawing/2014/main" id="{1FC7BE95-C1C4-48FA-A4CD-B9707AC8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72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largest single optimisation gain</a:t>
            </a:r>
          </a:p>
        </p:txBody>
      </p:sp>
    </p:spTree>
    <p:extLst>
      <p:ext uri="{BB962C8B-B14F-4D97-AF65-F5344CB8AC3E}">
        <p14:creationId xmlns:p14="http://schemas.microsoft.com/office/powerpoint/2010/main" val="1432580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6">
            <a:extLst xmlns:a="http://schemas.openxmlformats.org/drawingml/2006/main">
              <a:ext uri="{FF2B5EF4-FFF2-40B4-BE49-F238E27FC236}">
                <a16:creationId xmlns:a16="http://schemas.microsoft.com/office/drawing/2014/main" id="{B3CCD701-22CD-4BD5-97C3-498FB9A0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Later changes added smaller gains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10E8A-881C-4BD7-906A-A61EB30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A6748-513E-4463-B931-B9D306CE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6">
            <a:extLst xmlns:a="http://schemas.openxmlformats.org/drawingml/2006/main">
              <a:ext uri="{FF2B5EF4-FFF2-40B4-BE49-F238E27FC236}">
                <a16:creationId xmlns:a16="http://schemas.microsoft.com/office/drawing/2014/main" id="{17CB18F7-BC8B-4F12-A0D7-759ABB12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95884A62-5981-4A53-9E0F-7F191D3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5CAF9-75AA-4492-A0CF-0BDD34E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2-heading">
            <a:extLst xmlns:a="http://schemas.openxmlformats.org/drawingml/2006/main">
              <a:ext uri="{FF2B5EF4-FFF2-40B4-BE49-F238E27FC236}">
                <a16:creationId xmlns:a16="http://schemas.microsoft.com/office/drawing/2014/main" id="{B91B2141-C986-43F5-B6AB-97DB52C2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V2 — contiguous row-major grid</a:t>
            </a:r>
          </a:p>
        </p:txBody>
      </p:sp>
      <p:sp>
        <p:nvSpPr>
          <p:cNvPr id="8" name="v2-change">
            <a:extLst xmlns:a="http://schemas.openxmlformats.org/drawingml/2006/main">
              <a:ext uri="{FF2B5EF4-FFF2-40B4-BE49-F238E27FC236}">
                <a16:creationId xmlns:a16="http://schemas.microsoft.com/office/drawing/2014/main" id="{22FBB2B9-745D-4402-A89C-1AEEC4B6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vector&lt;vector&lt;uint8_t&gt;&gt;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    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vector&lt;uint8_t&gt;</a:t>
            </a:r>
          </a:p>
        </p:txBody>
      </p:sp>
      <p:sp>
        <p:nvSpPr>
          <p:cNvPr id="9" name="v2-index">
            <a:extLst xmlns:a="http://schemas.openxmlformats.org/drawingml/2006/main">
              <a:ext uri="{FF2B5EF4-FFF2-40B4-BE49-F238E27FC236}">
                <a16:creationId xmlns:a16="http://schemas.microsoft.com/office/drawing/2014/main" id="{60753563-ED46-48D6-8F73-44462BA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6616B"/>
                </a:solidFill>
                <a:latin typeface="Arial"/>
                <a:ea typeface="Arial"/>
                <a:cs typeface="Arial"/>
              </a:rPr>
              <a:t>Index: y × width + x</a:t>
            </a:r>
          </a:p>
        </p:txBody>
      </p:sp>
      <p:sp>
        <p:nvSpPr>
          <p:cNvPr id="10" name="v2-reason">
            <a:extLst xmlns:a="http://schemas.openxmlformats.org/drawingml/2006/main">
              <a:ext uri="{FF2B5EF4-FFF2-40B4-BE49-F238E27FC236}">
                <a16:creationId xmlns:a16="http://schemas.microsoft.com/office/drawing/2014/main" id="{10234800-0C76-4690-8399-74732E31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One allocation removes row indirection and creates better locality opportunities.</a:t>
            </a:r>
          </a:p>
        </p:txBody>
      </p:sp>
      <p:sp>
        <p:nvSpPr>
          <p:cNvPr id="11" name="v2-result-value">
            <a:extLst xmlns:a="http://schemas.openxmlformats.org/drawingml/2006/main">
              <a:ext uri="{FF2B5EF4-FFF2-40B4-BE49-F238E27FC236}">
                <a16:creationId xmlns:a16="http://schemas.microsoft.com/office/drawing/2014/main" id="{8778034E-5DF5-40DF-9C49-8702EBD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20.35 → 16.92 s</a:t>
            </a:r>
          </a:p>
        </p:txBody>
      </p:sp>
      <p:sp>
        <p:nvSpPr>
          <p:cNvPr id="12" name="v2-result-label">
            <a:extLst xmlns:a="http://schemas.openxmlformats.org/drawingml/2006/main">
              <a:ext uri="{FF2B5EF4-FFF2-40B4-BE49-F238E27FC236}">
                <a16:creationId xmlns:a16="http://schemas.microsoft.com/office/drawing/2014/main" id="{5CA3D8AA-7EA2-4BCE-8ED6-97C5ABF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054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≈ 1.20× incremental speedup</a:t>
            </a:r>
          </a:p>
        </p:txBody>
      </p:sp>
      <p:sp>
        <p:nvSpPr>
          <p:cNvPr id="13" name="v3-heading">
            <a:extLst xmlns:a="http://schemas.openxmlformats.org/drawingml/2006/main">
              <a:ext uri="{FF2B5EF4-FFF2-40B4-BE49-F238E27FC236}">
                <a16:creationId xmlns:a16="http://schemas.microsoft.com/office/drawing/2014/main" id="{F68E9546-1EA7-4FB0-A212-7775DFB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V3 — explicit eight-neighbour sum</a:t>
            </a:r>
          </a:p>
        </p:txBody>
      </p:sp>
      <p:sp>
        <p:nvSpPr>
          <p:cNvPr id="14" name="v3-change">
            <a:extLst xmlns:a="http://schemas.openxmlformats.org/drawingml/2006/main">
              <a:ext uri="{FF2B5EF4-FFF2-40B4-BE49-F238E27FC236}">
                <a16:creationId xmlns:a16="http://schemas.microsoft.com/office/drawing/2014/main" id="{1EE12C22-FA22-4911-8516-4B3AF1EC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generic 3 × 3 loops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+ centre-skip branch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        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24212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2126"/>
                </a:solidFill>
                <a:latin typeface="Consolas"/>
                <a:ea typeface="Consolas"/>
                <a:cs typeface="Consolas"/>
              </a:rPr>
              <a:t>8 explicit reads</a:t>
            </a:r>
          </a:p>
        </p:txBody>
      </p:sp>
      <p:sp>
        <p:nvSpPr>
          <p:cNvPr id="15" name="v3-reason">
            <a:extLst xmlns:a="http://schemas.openxmlformats.org/drawingml/2006/main">
              <a:ext uri="{FF2B5EF4-FFF2-40B4-BE49-F238E27FC236}">
                <a16:creationId xmlns:a16="http://schemas.microsoft.com/office/drawing/2014/main" id="{87AC88FD-6233-4A8D-AB8E-B6A7E278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The fixed Moore neighbourhood removes loop and branch overhead without changing the rule.</a:t>
            </a:r>
          </a:p>
        </p:txBody>
      </p:sp>
      <p:sp>
        <p:nvSpPr>
          <p:cNvPr id="16" name="v3-result-value">
            <a:extLst xmlns:a="http://schemas.openxmlformats.org/drawingml/2006/main">
              <a:ext uri="{FF2B5EF4-FFF2-40B4-BE49-F238E27FC236}">
                <a16:creationId xmlns:a16="http://schemas.microsoft.com/office/drawing/2014/main" id="{6684A23A-A671-4D1C-A459-9C7D3DB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9587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16.92 → 16.07 s</a:t>
            </a:r>
          </a:p>
        </p:txBody>
      </p:sp>
      <p:sp>
        <p:nvSpPr>
          <p:cNvPr id="17" name="v3-result-label">
            <a:extLst xmlns:a="http://schemas.openxmlformats.org/drawingml/2006/main">
              <a:ext uri="{FF2B5EF4-FFF2-40B4-BE49-F238E27FC236}">
                <a16:creationId xmlns:a16="http://schemas.microsoft.com/office/drawing/2014/main" id="{A605C7BD-8A8E-40F1-892E-DC21A14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7054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≈ 1.05× incremental speedup</a:t>
            </a:r>
          </a:p>
        </p:txBody>
      </p:sp>
    </p:spTree>
    <p:extLst>
      <p:ext uri="{BB962C8B-B14F-4D97-AF65-F5344CB8AC3E}">
        <p14:creationId xmlns:p14="http://schemas.microsoft.com/office/powerpoint/2010/main" val="844241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7">
            <a:extLst xmlns:a="http://schemas.openxmlformats.org/drawingml/2006/main">
              <a:ext uri="{FF2B5EF4-FFF2-40B4-BE49-F238E27FC236}">
                <a16:creationId xmlns:a16="http://schemas.microsoft.com/office/drawing/2014/main" id="{04C0CD27-4865-42AC-9162-0B681CD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The benchmark isolated each serial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4AB87-1D7B-48BF-B1A1-7F93E4E3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4C36D-6ECA-4551-8861-1315FB6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7">
            <a:extLst xmlns:a="http://schemas.openxmlformats.org/drawingml/2006/main">
              <a:ext uri="{FF2B5EF4-FFF2-40B4-BE49-F238E27FC236}">
                <a16:creationId xmlns:a16="http://schemas.microsoft.com/office/drawing/2014/main" id="{D03C7899-2200-4448-BA52-87A0E51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AA581C85-A023-47E1-9D75-3C9B8AE6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22A3-8292-46F1-A420-9FC63EAB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heading-0">
            <a:extLst xmlns:a="http://schemas.openxmlformats.org/drawingml/2006/main">
              <a:ext uri="{FF2B5EF4-FFF2-40B4-BE49-F238E27FC236}">
                <a16:creationId xmlns:a16="http://schemas.microsoft.com/office/drawing/2014/main" id="{A978D05E-69B4-4B9C-AF24-0A4E79A1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8" name="method-list-0">
            <a:extLst xmlns:a="http://schemas.openxmlformats.org/drawingml/2006/main">
              <a:ext uri="{FF2B5EF4-FFF2-40B4-BE49-F238E27FC236}">
                <a16:creationId xmlns:a16="http://schemas.microsoft.com/office/drawing/2014/main" id="{B95CACEE-34E7-4D59-8470-42C104B0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095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UQ Rangpur · a100-0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1 node · 1 task · 1 CPU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GCC 8.5.0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-O3 -DNDEBUG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52244-3D45-4ED4-8FAE-4D613C3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heading-1">
            <a:extLst xmlns:a="http://schemas.openxmlformats.org/drawingml/2006/main">
              <a:ext uri="{FF2B5EF4-FFF2-40B4-BE49-F238E27FC236}">
                <a16:creationId xmlns:a16="http://schemas.microsoft.com/office/drawing/2014/main" id="{55B45DD7-BCF6-4DBB-B8B4-A092DC2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11" name="method-list-1">
            <a:extLst xmlns:a="http://schemas.openxmlformats.org/drawingml/2006/main">
              <a:ext uri="{FF2B5EF4-FFF2-40B4-BE49-F238E27FC236}">
                <a16:creationId xmlns:a16="http://schemas.microsoft.com/office/drawing/2014/main" id="{D4AE9B7F-7B7C-4B31-BCAF-1928CA4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28875"/>
            <a:ext cx="3095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512² · 1024² · 2048²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800 generations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35% initial density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seed 12345 · 5 repetitions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78596-2D1B-4019-9354-DC6CDAFA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71625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heading-2">
            <a:extLst xmlns:a="http://schemas.openxmlformats.org/drawingml/2006/main">
              <a:ext uri="{FF2B5EF4-FFF2-40B4-BE49-F238E27FC236}">
                <a16:creationId xmlns:a16="http://schemas.microsoft.com/office/drawing/2014/main" id="{18DDB4CA-D6E9-4F54-8885-E7042E4A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4" name="method-list-2">
            <a:extLst xmlns:a="http://schemas.openxmlformats.org/drawingml/2006/main">
              <a:ext uri="{FF2B5EF4-FFF2-40B4-BE49-F238E27FC236}">
                <a16:creationId xmlns:a16="http://schemas.microsoft.com/office/drawing/2014/main" id="{7E205619-E16E-41BC-977C-CBA5516A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28875"/>
            <a:ext cx="3095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median runtime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CV records variability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generation updates timed only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650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live count + checksum checked</a:t>
            </a:r>
          </a:p>
        </p:txBody>
      </p:sp>
      <p:sp>
        <p:nvSpPr>
          <p:cNvPr id="15" name="method-callout">
            <a:extLst xmlns:a="http://schemas.openxmlformats.org/drawingml/2006/main">
              <a:ext uri="{FF2B5EF4-FFF2-40B4-BE49-F238E27FC236}">
                <a16:creationId xmlns:a16="http://schemas.microsoft.com/office/drawing/2014/main" id="{54CD1730-CB15-4173-994D-A23EC5F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4"/>
          </a:solidFill>
          <a:ln xmlns:a="http://schemas.openxmlformats.org/drawingml/2006/main" w="9525">
            <a:solidFill>
              <a:srgbClr val="A98ABD"/>
            </a:solidFill>
            <a:prstDash val="solid"/>
          </a:ln>
        </p:spPr>
        <p:txBody>
          <a:bodyPr xmlns:a="http://schemas.openxmlformats.org/drawingml/2006/main" lIns="190500" tIns="142875" rIns="1905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All 15 formal rows per version produced matching live-cell counts and checksums.</a:t>
            </a:r>
          </a:p>
        </p:txBody>
      </p:sp>
    </p:spTree>
    <p:extLst>
      <p:ext uri="{BB962C8B-B14F-4D97-AF65-F5344CB8AC3E}">
        <p14:creationId xmlns:p14="http://schemas.microsoft.com/office/powerpoint/2010/main" val="1914469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8">
            <a:extLst xmlns:a="http://schemas.openxmlformats.org/drawingml/2006/main">
              <a:ext uri="{FF2B5EF4-FFF2-40B4-BE49-F238E27FC236}">
                <a16:creationId xmlns:a16="http://schemas.microsoft.com/office/drawing/2014/main" id="{8A48B6FF-3049-43D0-8173-A4599337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V3 was about 5.65× faster than the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3D7BC-1AC8-45D8-8AF9-C79D322F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B04CF-5F39-4A18-88AF-FE0B486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8">
            <a:extLst xmlns:a="http://schemas.openxmlformats.org/drawingml/2006/main">
              <a:ext uri="{FF2B5EF4-FFF2-40B4-BE49-F238E27FC236}">
                <a16:creationId xmlns:a16="http://schemas.microsoft.com/office/drawing/2014/main" id="{0A44B1AF-1DE4-4B70-A551-BEE0AE9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0ABD63D-C461-4E8E-877E-B0B141F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03a78c1fa47fa"/>
          <a:stretch xmlns:a="http://schemas.openxmlformats.org/drawingml/2006/main"/>
        </p:blipFill>
        <p:spPr>
          <a:xfrm xmlns:a="http://schemas.openxmlformats.org/drawingml/2006/main">
            <a:off x="430210" y="1285875"/>
            <a:ext cx="8035930" cy="4810125"/>
          </a:xfrm>
          <a:prstGeom xmlns:a="http://schemas.openxmlformats.org/drawingml/2006/main" prst="rect">
            <a:avLst/>
          </a:prstGeom>
        </p:spPr>
      </p:pic>
      <p:sp>
        <p:nvSpPr>
          <p:cNvPr id="7" name="final-speed-value">
            <a:extLst xmlns:a="http://schemas.openxmlformats.org/drawingml/2006/main">
              <a:ext uri="{FF2B5EF4-FFF2-40B4-BE49-F238E27FC236}">
                <a16:creationId xmlns:a16="http://schemas.microsoft.com/office/drawing/2014/main" id="{E22935C3-ACCE-4F73-8EBD-D91FED7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≈ 5.65×</a:t>
            </a:r>
          </a:p>
        </p:txBody>
      </p:sp>
      <p:sp>
        <p:nvSpPr>
          <p:cNvPr id="8" name="final-speed-label">
            <a:extLst xmlns:a="http://schemas.openxmlformats.org/drawingml/2006/main">
              <a:ext uri="{FF2B5EF4-FFF2-40B4-BE49-F238E27FC236}">
                <a16:creationId xmlns:a16="http://schemas.microsoft.com/office/drawing/2014/main" id="{ADF3A829-D4E5-47BF-9DCF-D5BB270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717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speedup at 2048 × 2048</a:t>
            </a:r>
          </a:p>
        </p:txBody>
      </p:sp>
      <p:sp>
        <p:nvSpPr>
          <p:cNvPr id="9" name="final-reduction-value">
            <a:extLst xmlns:a="http://schemas.openxmlformats.org/drawingml/2006/main">
              <a:ext uri="{FF2B5EF4-FFF2-40B4-BE49-F238E27FC236}">
                <a16:creationId xmlns:a16="http://schemas.microsoft.com/office/drawing/2014/main" id="{B4809BDE-489F-4063-8959-FC129629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385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9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≈ 82.3%</a:t>
            </a:r>
          </a:p>
        </p:txBody>
      </p:sp>
      <p:sp>
        <p:nvSpPr>
          <p:cNvPr id="10" name="final-reduction-label">
            <a:extLst xmlns:a="http://schemas.openxmlformats.org/drawingml/2006/main">
              <a:ext uri="{FF2B5EF4-FFF2-40B4-BE49-F238E27FC236}">
                <a16:creationId xmlns:a16="http://schemas.microsoft.com/office/drawing/2014/main" id="{E853D1DB-5731-4802-AA32-8A704A9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48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runtime reduction at 2048 × 2048</a:t>
            </a:r>
          </a:p>
        </p:txBody>
      </p:sp>
      <p:sp>
        <p:nvSpPr>
          <p:cNvPr id="11" name="result-context">
            <a:extLst xmlns:a="http://schemas.openxmlformats.org/drawingml/2006/main">
              <a:ext uri="{FF2B5EF4-FFF2-40B4-BE49-F238E27FC236}">
                <a16:creationId xmlns:a16="http://schemas.microsoft.com/office/drawing/2014/main" id="{FCD9D01D-A92B-4FCA-9DD4-9F0C8A71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The reduction was about 82.3% at all three tested sizes, and each gain was larger than observed run-to-run variation.</a:t>
            </a:r>
          </a:p>
        </p:txBody>
      </p:sp>
    </p:spTree>
    <p:extLst>
      <p:ext uri="{BB962C8B-B14F-4D97-AF65-F5344CB8AC3E}">
        <p14:creationId xmlns:p14="http://schemas.microsoft.com/office/powerpoint/2010/main" val="118733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89354780-2303-43D9-999D-23109C7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26"/>
                </a:solidFill>
                <a:latin typeface="Arial"/>
                <a:ea typeface="Arial"/>
                <a:cs typeface="Arial"/>
              </a:rPr>
              <a:t>Measure first, then optimise and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40D86-CD76-4970-BC7A-C74D762A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73367-FF77-45B0-9E69-B04BD2FD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course-9">
            <a:extLst xmlns:a="http://schemas.openxmlformats.org/drawingml/2006/main">
              <a:ext uri="{FF2B5EF4-FFF2-40B4-BE49-F238E27FC236}">
                <a16:creationId xmlns:a16="http://schemas.microsoft.com/office/drawing/2014/main" id="{D32288C6-A00E-48B8-A50B-B45A348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COSC7502 · Milestone 1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F646A81B-C587-4A28-BE92-5E8DA0E9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conclusion-number">
            <a:extLst xmlns:a="http://schemas.openxmlformats.org/drawingml/2006/main">
              <a:ext uri="{FF2B5EF4-FFF2-40B4-BE49-F238E27FC236}">
                <a16:creationId xmlns:a16="http://schemas.microsoft.com/office/drawing/2014/main" id="{ACE91ECB-058F-4605-9C2F-C4DA6B17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55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≈ 5.65×</a:t>
            </a:r>
          </a:p>
        </p:txBody>
      </p:sp>
      <p:sp>
        <p:nvSpPr>
          <p:cNvPr id="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2E658DA7-7748-478F-8E08-897798C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0">
                <a:solidFill>
                  <a:srgbClr val="66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16B"/>
                </a:solidFill>
                <a:latin typeface="Arial"/>
                <a:ea typeface="Arial"/>
                <a:cs typeface="Arial"/>
              </a:rPr>
              <a:t>final serial speedup over 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925E3-7CD6-4931-AB04-2095D8B1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flection-list">
            <a:extLst xmlns:a="http://schemas.openxmlformats.org/drawingml/2006/main">
              <a:ext uri="{FF2B5EF4-FFF2-40B4-BE49-F238E27FC236}">
                <a16:creationId xmlns:a16="http://schemas.microsoft.com/office/drawing/2014/main" id="{725FCE4F-A83A-4613-9DA1-2A41D92E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The profiler identified the highest-value target.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V1 produced the largest gain by removing repeated wrapping work.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V2 and V3 still improved runtime, but the returns became smaller.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Correctness checks were repeated after every controlled change.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24212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2126"/>
                </a:solidFill>
                <a:latin typeface="Arial"/>
                <a:ea typeface="Arial"/>
                <a:cs typeface="Arial"/>
              </a:rPr>
              <a:t>• The implementation remained serial throughout the milestone.</a:t>
            </a:r>
          </a:p>
        </p:txBody>
      </p:sp>
      <p:sp>
        <p:nvSpPr>
          <p:cNvPr id="10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9CAEE2D5-19A8-4E02-BBB2-E1B0C9A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9525">
            <a:solidFill>
              <a:srgbClr val="51247A"/>
            </a:solidFill>
            <a:prstDash val="solid"/>
          </a:ln>
        </p:spPr>
        <p:txBody>
          <a:bodyPr xmlns:a="http://schemas.openxmlformats.org/drawingml/2006/main" lIns="209550" tIns="133350" rIns="2095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Faster code only counts when it still produces the same result.</a:t>
            </a:r>
          </a:p>
        </p:txBody>
      </p:sp>
    </p:spTree>
    <p:extLst>
      <p:ext uri="{BB962C8B-B14F-4D97-AF65-F5344CB8AC3E}">
        <p14:creationId xmlns:p14="http://schemas.microsoft.com/office/powerpoint/2010/main" val="1891113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2026-08-22T07:44:10.0690000Z</dcterms:created>
  <dcterms:modified xsi:type="dcterms:W3CDTF">2026-08-22T07:44:10.0690000Z</dcterms:modified>
</coreProperties>
</file>